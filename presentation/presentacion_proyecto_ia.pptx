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dictions_vs_actual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grid_search_curve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mse_by_feature_set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error_histogram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7772400" cy="711200"/>
          </a:xfrm>
        </p:spPr>
        <p:txBody>
          <a:bodyPr/>
          <a:lstStyle/>
          <a:p>
            <a:r>
              <a:rPr lang="es-ES" sz="3600" b="1">
                <a:solidFill>
                  <a:srgbClr val="0F172A"/>
                </a:solidFill>
              </a:rPr>
              <a:t>Pronostico horario de SIN</a:t>
            </a:r>
          </a:p>
        </p:txBody>
      </p:sp>
      <p:sp>
        <p:nvSpPr>
          <p:cNvPr id="3" name="Bullets"/>
          <p:cNvSpPr/>
          <p:nvPr/>
        </p:nvSpPr>
        <p:spPr>
          <a:xfrm>
            <a:off x="762000" y="1310000"/>
            <a:ext cx="4700000" cy="420000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es-ES" sz="2100"/>
              <a:t>Benjamin</a:t>
            </a:r>
          </a:p>
          <a:p>
            <a:pPr marL="342900" indent="-171450">
              <a:buChar char="•"/>
            </a:pPr>
            <a:r>
              <a:rPr lang="es-ES" sz="2100"/>
              <a:t>Proyecto de Inteligencia Artificial</a:t>
            </a:r>
          </a:p>
          <a:p>
            <a:pPr marL="342900" indent="-171450">
              <a:buChar char="•"/>
            </a:pPr>
            <a:r>
              <a:rPr lang="es-ES" sz="2100"/>
              <a:t>Series temporales y variables meteorologicas</a:t>
            </a:r>
          </a:p>
        </p:txBody>
      </p:sp>
      <p:pic>
        <p:nvPicPr>
          <p:cNvPr id="4" name="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5600000" y="1380000"/>
            <a:ext cx="337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7772400" cy="711200"/>
          </a:xfrm>
        </p:spPr>
        <p:txBody>
          <a:bodyPr/>
          <a:lstStyle/>
          <a:p>
            <a:r>
              <a:rPr lang="es-ES" sz="3600" b="1">
                <a:solidFill>
                  <a:srgbClr val="0F172A"/>
                </a:solidFill>
              </a:rPr>
              <a:t>Planteamiento del problema</a:t>
            </a:r>
          </a:p>
        </p:txBody>
      </p:sp>
      <p:sp>
        <p:nvSpPr>
          <p:cNvPr id="3" name="Bullets"/>
          <p:cNvSpPr/>
          <p:nvPr/>
        </p:nvSpPr>
        <p:spPr>
          <a:xfrm>
            <a:off x="762000" y="1310000"/>
            <a:ext cx="4700000" cy="420000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es-ES" sz="2100"/>
              <a:t>Predecir el comportamiento horario de SIN</a:t>
            </a:r>
          </a:p>
          <a:p>
            <a:pPr marL="342900" indent="-171450">
              <a:buChar char="•"/>
            </a:pPr>
            <a:r>
              <a:rPr lang="es-ES" sz="2100"/>
              <a:t>Apoyar analisis energetico y planificacion</a:t>
            </a:r>
          </a:p>
          <a:p>
            <a:pPr marL="342900" indent="-171450">
              <a:buChar char="•"/>
            </a:pPr>
            <a:r>
              <a:rPr lang="es-ES" sz="2100"/>
              <a:t>Integrar clima y patrones historicos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7772400" cy="711200"/>
          </a:xfrm>
        </p:spPr>
        <p:txBody>
          <a:bodyPr/>
          <a:lstStyle/>
          <a:p>
            <a:r>
              <a:rPr lang="es-ES" sz="3600" b="1">
                <a:solidFill>
                  <a:srgbClr val="0F172A"/>
                </a:solidFill>
              </a:rPr>
              <a:t>Dataset</a:t>
            </a:r>
          </a:p>
        </p:txBody>
      </p:sp>
      <p:sp>
        <p:nvSpPr>
          <p:cNvPr id="3" name="Bullets"/>
          <p:cNvSpPr/>
          <p:nvPr/>
        </p:nvSpPr>
        <p:spPr>
          <a:xfrm>
            <a:off x="762000" y="1310000"/>
            <a:ext cx="4700000" cy="420000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es-ES" sz="2100"/>
              <a:t>Archivo NuevoTPIA.csv</a:t>
            </a:r>
          </a:p>
          <a:p>
            <a:pPr marL="342900" indent="-171450">
              <a:buChar char="•"/>
            </a:pPr>
            <a:r>
              <a:rPr lang="es-ES" sz="2100"/>
              <a:t>Frecuencia horaria</a:t>
            </a:r>
          </a:p>
          <a:p>
            <a:pPr marL="342900" indent="-171450">
              <a:buChar char="•"/>
            </a:pPr>
            <a:r>
              <a:rPr lang="es-ES" sz="2100"/>
              <a:t>Objetivo: SIN Imputed</a:t>
            </a:r>
          </a:p>
          <a:p>
            <a:pPr marL="342900" indent="-171450">
              <a:buChar char="•"/>
            </a:pPr>
            <a:r>
              <a:rPr lang="es-ES" sz="2100"/>
              <a:t>Covariables: temperatura, humedad, presion, lluvia y viento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7772400" cy="711200"/>
          </a:xfrm>
        </p:spPr>
        <p:txBody>
          <a:bodyPr/>
          <a:lstStyle/>
          <a:p>
            <a:r>
              <a:rPr lang="es-ES" sz="3600" b="1">
                <a:solidFill>
                  <a:srgbClr val="0F172A"/>
                </a:solidFill>
              </a:rPr>
              <a:t>Features creados</a:t>
            </a:r>
          </a:p>
        </p:txBody>
      </p:sp>
      <p:sp>
        <p:nvSpPr>
          <p:cNvPr id="3" name="Bullets"/>
          <p:cNvSpPr/>
          <p:nvPr/>
        </p:nvSpPr>
        <p:spPr>
          <a:xfrm>
            <a:off x="762000" y="1310000"/>
            <a:ext cx="4700000" cy="420000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es-ES" sz="2100"/>
              <a:t>Ciclos calendario: hora, dia y mes</a:t>
            </a:r>
          </a:p>
          <a:p>
            <a:pPr marL="342900" indent="-171450">
              <a:buChar char="•"/>
            </a:pPr>
            <a:r>
              <a:rPr lang="es-ES" sz="2100"/>
              <a:t>Fin de semana y franjas horarias</a:t>
            </a:r>
          </a:p>
          <a:p>
            <a:pPr marL="342900" indent="-171450">
              <a:buChar char="•"/>
            </a:pPr>
            <a:r>
              <a:rPr lang="es-ES" sz="2100"/>
              <a:t>Rezagos: 24 h y 168 h</a:t>
            </a:r>
          </a:p>
          <a:p>
            <a:pPr marL="342900" indent="-171450">
              <a:buChar char="•"/>
            </a:pPr>
            <a:r>
              <a:rPr lang="es-ES" sz="2100"/>
              <a:t>Medias moviles: 24 h y 168 h</a:t>
            </a:r>
          </a:p>
          <a:p>
            <a:pPr marL="342900" indent="-171450">
              <a:buChar char="•"/>
            </a:pPr>
            <a:r>
              <a:rPr lang="es-ES" sz="2100"/>
              <a:t>Magnitud de viento e interaccion clima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7772400" cy="711200"/>
          </a:xfrm>
        </p:spPr>
        <p:txBody>
          <a:bodyPr/>
          <a:lstStyle/>
          <a:p>
            <a:r>
              <a:rPr lang="es-ES" sz="3600" b="1">
                <a:solidFill>
                  <a:srgbClr val="0F172A"/>
                </a:solidFill>
              </a:rPr>
              <a:t>Modelo utilizado</a:t>
            </a:r>
          </a:p>
        </p:txBody>
      </p:sp>
      <p:sp>
        <p:nvSpPr>
          <p:cNvPr id="3" name="Bullets"/>
          <p:cNvSpPr/>
          <p:nvPr/>
        </p:nvSpPr>
        <p:spPr>
          <a:xfrm>
            <a:off x="762000" y="1310000"/>
            <a:ext cx="4700000" cy="420000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es-ES" sz="2100"/>
              <a:t>Baseline: regresion Ridge</a:t>
            </a:r>
          </a:p>
          <a:p>
            <a:pPr marL="342900" indent="-171450">
              <a:buChar char="•"/>
            </a:pPr>
            <a:r>
              <a:rPr lang="es-ES" sz="2100"/>
              <a:t>Regularizacion para reducir sobreajuste</a:t>
            </a:r>
          </a:p>
          <a:p>
            <a:pPr marL="342900" indent="-171450">
              <a:buChar char="•"/>
            </a:pPr>
            <a:r>
              <a:rPr lang="es-ES" sz="2100"/>
              <a:t>Notebook original: N-BEATS como alternativa profunda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7772400" cy="711200"/>
          </a:xfrm>
        </p:spPr>
        <p:txBody>
          <a:bodyPr/>
          <a:lstStyle/>
          <a:p>
            <a:r>
              <a:rPr lang="es-ES" sz="3600" b="1">
                <a:solidFill>
                  <a:srgbClr val="0F172A"/>
                </a:solidFill>
              </a:rPr>
              <a:t>Optimizacion</a:t>
            </a:r>
          </a:p>
        </p:txBody>
      </p:sp>
      <p:sp>
        <p:nvSpPr>
          <p:cNvPr id="3" name="Bullets"/>
          <p:cNvSpPr/>
          <p:nvPr/>
        </p:nvSpPr>
        <p:spPr>
          <a:xfrm>
            <a:off x="762000" y="1310000"/>
            <a:ext cx="4700000" cy="420000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es-ES" sz="2100"/>
              <a:t>Grid Search manual</a:t>
            </a:r>
          </a:p>
          <a:p>
            <a:pPr marL="342900" indent="-171450">
              <a:buChar char="•"/>
            </a:pPr>
            <a:r>
              <a:rPr lang="es-ES" sz="2100"/>
              <a:t>Alphas: 0 a 1000</a:t>
            </a:r>
          </a:p>
          <a:p>
            <a:pPr marL="342900" indent="-171450">
              <a:buChar char="•"/>
            </a:pPr>
            <a:r>
              <a:rPr lang="es-ES" sz="2100"/>
              <a:t>Comparacion de tres conjuntos de features</a:t>
            </a:r>
          </a:p>
        </p:txBody>
      </p:sp>
      <p:pic>
        <p:nvPicPr>
          <p:cNvPr id="4" name="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5600000" y="1380000"/>
            <a:ext cx="337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7772400" cy="711200"/>
          </a:xfrm>
        </p:spPr>
        <p:txBody>
          <a:bodyPr/>
          <a:lstStyle/>
          <a:p>
            <a:r>
              <a:rPr lang="es-ES" sz="3600" b="1">
                <a:solidFill>
                  <a:srgbClr val="0F172A"/>
                </a:solidFill>
              </a:rPr>
              <a:t>Visualizacion de resultados</a:t>
            </a:r>
          </a:p>
        </p:txBody>
      </p:sp>
      <p:sp>
        <p:nvSpPr>
          <p:cNvPr id="3" name="Bullets"/>
          <p:cNvSpPr/>
          <p:nvPr/>
        </p:nvSpPr>
        <p:spPr>
          <a:xfrm>
            <a:off x="762000" y="1310000"/>
            <a:ext cx="4700000" cy="420000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es-ES" sz="2100"/>
              <a:t>Curva de busqueda de hiperparametros</a:t>
            </a:r>
          </a:p>
          <a:p>
            <a:pPr marL="342900" indent="-171450">
              <a:buChar char="•"/>
            </a:pPr>
            <a:r>
              <a:rPr lang="es-ES" sz="2100"/>
              <a:t>Comparacion de predicciones vs valores reales</a:t>
            </a:r>
          </a:p>
          <a:p>
            <a:pPr marL="342900" indent="-171450">
              <a:buChar char="•"/>
            </a:pPr>
            <a:r>
              <a:rPr lang="es-ES" sz="2100"/>
              <a:t>Histograma de errores</a:t>
            </a:r>
          </a:p>
        </p:txBody>
      </p:sp>
      <p:pic>
        <p:nvPicPr>
          <p:cNvPr id="4" name="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5600000" y="1380000"/>
            <a:ext cx="337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7772400" cy="711200"/>
          </a:xfrm>
        </p:spPr>
        <p:txBody>
          <a:bodyPr/>
          <a:lstStyle/>
          <a:p>
            <a:r>
              <a:rPr lang="es-ES" sz="3600" b="1">
                <a:solidFill>
                  <a:srgbClr val="0F172A"/>
                </a:solidFill>
              </a:rPr>
              <a:t>Predicciones y evaluacion</a:t>
            </a:r>
          </a:p>
        </p:txBody>
      </p:sp>
      <p:sp>
        <p:nvSpPr>
          <p:cNvPr id="3" name="Bullets"/>
          <p:cNvSpPr/>
          <p:nvPr/>
        </p:nvSpPr>
        <p:spPr>
          <a:xfrm>
            <a:off x="762000" y="1310000"/>
            <a:ext cx="4700000" cy="420000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es-ES" sz="2100"/>
              <a:t>RMSE: 129.93</a:t>
            </a:r>
          </a:p>
          <a:p>
            <a:pPr marL="342900" indent="-171450">
              <a:buChar char="•"/>
            </a:pPr>
            <a:r>
              <a:rPr lang="es-ES" sz="2100"/>
              <a:t>MAE: 91.49</a:t>
            </a:r>
          </a:p>
          <a:p>
            <a:pPr marL="342900" indent="-171450">
              <a:buChar char="•"/>
            </a:pPr>
            <a:r>
              <a:rPr lang="es-ES" sz="2100"/>
              <a:t>MAPE: 4.66%</a:t>
            </a:r>
          </a:p>
          <a:p>
            <a:pPr marL="342900" indent="-171450">
              <a:buChar char="•"/>
            </a:pPr>
            <a:r>
              <a:rPr lang="es-ES" sz="2100"/>
              <a:t>R2: 0.9438</a:t>
            </a:r>
          </a:p>
        </p:txBody>
      </p:sp>
      <p:pic>
        <p:nvPicPr>
          <p:cNvPr id="4" name="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5600000" y="1380000"/>
            <a:ext cx="337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7772400" cy="711200"/>
          </a:xfrm>
        </p:spPr>
        <p:txBody>
          <a:bodyPr/>
          <a:lstStyle/>
          <a:p>
            <a:r>
              <a:rPr lang="es-ES" sz="3600" b="1">
                <a:solidFill>
                  <a:srgbClr val="0F172A"/>
                </a:solidFill>
              </a:rPr>
              <a:t>Conclusiones y limitaciones</a:t>
            </a:r>
          </a:p>
        </p:txBody>
      </p:sp>
      <p:sp>
        <p:nvSpPr>
          <p:cNvPr id="3" name="Bullets"/>
          <p:cNvSpPr/>
          <p:nvPr/>
        </p:nvSpPr>
        <p:spPr>
          <a:xfrm>
            <a:off x="762000" y="1310000"/>
            <a:ext cx="4700000" cy="420000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es-ES" sz="2100"/>
              <a:t>Los rezagos capturan estacionalidad fuerte</a:t>
            </a:r>
          </a:p>
          <a:p>
            <a:pPr marL="342900" indent="-171450">
              <a:buChar char="•"/>
            </a:pPr>
            <a:r>
              <a:rPr lang="es-ES" sz="2100"/>
              <a:t>El modelo lineal es interpretable y reproducible</a:t>
            </a:r>
          </a:p>
          <a:p>
            <a:pPr marL="342900" indent="-171450">
              <a:buChar char="•"/>
            </a:pPr>
            <a:r>
              <a:rPr lang="es-ES" sz="2100"/>
              <a:t>Limitacion: no captura todas las no linealidades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7772400" cy="711200"/>
          </a:xfrm>
        </p:spPr>
        <p:txBody>
          <a:bodyPr/>
          <a:lstStyle/>
          <a:p>
            <a:r>
              <a:rPr lang="es-ES" sz="3600" b="1">
                <a:solidFill>
                  <a:srgbClr val="0F172A"/>
                </a:solidFill>
              </a:rPr>
              <a:t>Trabajos futuros</a:t>
            </a:r>
          </a:p>
        </p:txBody>
      </p:sp>
      <p:sp>
        <p:nvSpPr>
          <p:cNvPr id="3" name="Bullets"/>
          <p:cNvSpPr/>
          <p:nvPr/>
        </p:nvSpPr>
        <p:spPr>
          <a:xfrm>
            <a:off x="762000" y="1310000"/>
            <a:ext cx="4700000" cy="4200000"/>
          </a:xfrm>
        </p:spPr>
        <p:txBody>
          <a:bodyPr wrap="square"/>
          <a:lstStyle/>
          <a:p>
            <a:pPr marL="342900" indent="-171450">
              <a:buChar char="•"/>
            </a:pPr>
            <a:r>
              <a:rPr lang="es-ES" sz="2100"/>
              <a:t>Optimizar N-BEATS con Optuna</a:t>
            </a:r>
          </a:p>
          <a:p>
            <a:pPr marL="342900" indent="-171450">
              <a:buChar char="•"/>
            </a:pPr>
            <a:r>
              <a:rPr lang="es-ES" sz="2100"/>
              <a:t>Comparar con boosting y modelos recurrentes</a:t>
            </a:r>
          </a:p>
          <a:p>
            <a:pPr marL="342900" indent="-171450">
              <a:buChar char="•"/>
            </a:pPr>
            <a:r>
              <a:rPr lang="es-ES" sz="2100"/>
              <a:t>Publicar GitHub Pages y completar datos personales</a:t>
            </a:r>
          </a:p>
        </p:txBody>
      </p:sp>
    </p:spTree>
  </p:cSld>
  <p:clrMapOvr>
    <a:masterClrMapping/>
  </p:clrMapOvr>
</p:sld>
</file>